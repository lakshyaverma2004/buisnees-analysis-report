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Hotel Bookings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484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Project Report &amp; Summary  |  30,000 Booking Transactions  |  Apr 2024 - Apr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Total Bookings: 30,000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Confirmed: 21,672 (72.2%)  |  Cancelled: 6,070 (20.2%)  |  Failed: 2,258 (7.5%)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Average Booking Value: $25,081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Total Confirmed Revenue: $638.8M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Average Lead Time: 30.4 days  |  Average Stay: 4.0 days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Critical Finding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5,468 bookings (18.2%) have no check-in date assigned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Of these, 92.3% are Cancelled -- accounting for 83% of all cancellations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Executive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Booking Overview</a:t>
            </a:r>
          </a:p>
        </p:txBody>
      </p:sp>
      <p:pic>
        <p:nvPicPr>
          <p:cNvPr id="3" name="Picture 2" descr="chart01_booking_statu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3840480" cy="2743200"/>
          </a:xfrm>
          <a:prstGeom prst="rect">
            <a:avLst/>
          </a:prstGeom>
        </p:spPr>
      </p:pic>
      <p:pic>
        <p:nvPicPr>
          <p:cNvPr id="4" name="Picture 3" descr="chart02_cancel_rate_by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822960"/>
            <a:ext cx="3840480" cy="2743200"/>
          </a:xfrm>
          <a:prstGeom prst="rect">
            <a:avLst/>
          </a:prstGeom>
        </p:spPr>
      </p:pic>
      <p:pic>
        <p:nvPicPr>
          <p:cNvPr id="5" name="Picture 4" descr="chart03_avg_value_by_cha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822960"/>
            <a:ext cx="3840480" cy="2743200"/>
          </a:xfrm>
          <a:prstGeom prst="rect">
            <a:avLst/>
          </a:prstGeom>
        </p:spPr>
      </p:pic>
      <p:pic>
        <p:nvPicPr>
          <p:cNvPr id="6" name="Picture 5" descr="chart04_monthly_cancel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749039"/>
            <a:ext cx="5669280" cy="2743200"/>
          </a:xfrm>
          <a:prstGeom prst="rect">
            <a:avLst/>
          </a:prstGeom>
        </p:spPr>
      </p:pic>
      <p:pic>
        <p:nvPicPr>
          <p:cNvPr id="7" name="Picture 6" descr="chart05_cancel_by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49039"/>
            <a:ext cx="5669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Channel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Booking Channel Deep-Dive</a:t>
            </a:r>
          </a:p>
        </p:txBody>
      </p:sp>
      <p:pic>
        <p:nvPicPr>
          <p:cNvPr id="3" name="Picture 2" descr="chart06_volume_by_channel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3840480" cy="5303520"/>
          </a:xfrm>
          <a:prstGeom prst="rect">
            <a:avLst/>
          </a:prstGeom>
        </p:spPr>
      </p:pic>
      <p:pic>
        <p:nvPicPr>
          <p:cNvPr id="4" name="Picture 3" descr="chart07_value_boxplot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14400"/>
            <a:ext cx="3840480" cy="5303520"/>
          </a:xfrm>
          <a:prstGeom prst="rect">
            <a:avLst/>
          </a:prstGeom>
        </p:spPr>
      </p:pic>
      <p:pic>
        <p:nvPicPr>
          <p:cNvPr id="5" name="Picture 4" descr="chart08_platform_vs_cha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914400"/>
            <a:ext cx="3840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Channel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Web -- Best Performer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50% of volume | 17.6% cancel rate | $28,191 avg value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Highest value per booking with lowest cancellation rate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Mobile App -- Price-Sensitive Segment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40% of volume | 21.6% cancel rate | $21,351 avg value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24% lower value than Web -- opportunity for App-exclusive upsells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Travel Agent -- Highest Risk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10% of volume | 27.9% cancel rate | $24,454 avg value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Likely speculative bulk pre-bookings; needs deposit enforcement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Room Type &amp; Star Rating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Room Type &amp; Star Rating Analysis</a:t>
            </a:r>
          </a:p>
        </p:txBody>
      </p:sp>
      <p:pic>
        <p:nvPicPr>
          <p:cNvPr id="3" name="Picture 2" descr="chart09_cancel_by_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669280" cy="2743200"/>
          </a:xfrm>
          <a:prstGeom prst="rect">
            <a:avLst/>
          </a:prstGeom>
        </p:spPr>
      </p:pic>
      <p:pic>
        <p:nvPicPr>
          <p:cNvPr id="4" name="Picture 3" descr="chart10_volume_by_room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669280" cy="2743200"/>
          </a:xfrm>
          <a:prstGeom prst="rect">
            <a:avLst/>
          </a:prstGeom>
        </p:spPr>
      </p:pic>
      <p:pic>
        <p:nvPicPr>
          <p:cNvPr id="5" name="Picture 4" descr="chart11_value_star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49039"/>
            <a:ext cx="5669280" cy="2743200"/>
          </a:xfrm>
          <a:prstGeom prst="rect">
            <a:avLst/>
          </a:prstGeom>
        </p:spPr>
      </p:pic>
      <p:pic>
        <p:nvPicPr>
          <p:cNvPr id="6" name="Picture 5" descr="chart12_margin_viol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49039"/>
            <a:ext cx="5669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Room Type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Standard Rooms -- Highest Cancellation (23.3%)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55.2% of bookings but worst retention rate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Low-commitment choice; easy to book and cancel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Deluxe Rooms -- Best Retention (16.0%)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34.9% of bookings at similar avg price to Standard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Upselling Standard to Deluxe reduces cancel rate by 7.3 percentage points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Suite Rooms -- Stable at 18.0%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9.9% of bookings; niche premium segment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Temporal Trends &amp; Seasonality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Temporal Analysis</a:t>
            </a:r>
          </a:p>
        </p:txBody>
      </p:sp>
      <p:pic>
        <p:nvPicPr>
          <p:cNvPr id="3" name="Picture 2" descr="chart13_monthly_total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669280" cy="2743200"/>
          </a:xfrm>
          <a:prstGeom prst="rect">
            <a:avLst/>
          </a:prstGeom>
        </p:spPr>
      </p:pic>
      <p:pic>
        <p:nvPicPr>
          <p:cNvPr id="4" name="Picture 3" descr="chart14_monthly_avg_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669280" cy="2743200"/>
          </a:xfrm>
          <a:prstGeom prst="rect">
            <a:avLst/>
          </a:prstGeom>
        </p:spPr>
      </p:pic>
      <p:pic>
        <p:nvPicPr>
          <p:cNvPr id="5" name="Picture 4" descr="chart15_stay_length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49039"/>
            <a:ext cx="5669280" cy="2743200"/>
          </a:xfrm>
          <a:prstGeom prst="rect">
            <a:avLst/>
          </a:prstGeom>
        </p:spPr>
      </p:pic>
      <p:pic>
        <p:nvPicPr>
          <p:cNvPr id="6" name="Picture 5" descr="chart16_lead_time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49039"/>
            <a:ext cx="5669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Seasonal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Summer Peak (Jul-Aug): Cancellations spike to 28.8 - 30.3%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Peak vacation season creates over-booking behaviour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Strategy: increase prices 10-15% with stricter cancel policies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Holiday Bump (Dec-Jan): 23.7 - 25.8% cancellation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Year-end uncertainty and corporate budget cycles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Booking Values Growing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Apr 2024: $22.5K avg --&gt; Apr 2025: $27.8K avg (+23% YoY)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Platform moving upmarket or dynamic pricing taking effect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Best Months: November (15.9%) and April 2025 (16.1%)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Recommend concentrating marketing spend in these low-cancel windows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Cancellation Deep Dive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Cancellation Root Causes</a:t>
            </a:r>
          </a:p>
        </p:txBody>
      </p:sp>
      <p:pic>
        <p:nvPicPr>
          <p:cNvPr id="3" name="Picture 2" descr="chart17_missing_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669280" cy="2743200"/>
          </a:xfrm>
          <a:prstGeom prst="rect">
            <a:avLst/>
          </a:prstGeom>
        </p:spPr>
      </p:pic>
      <p:pic>
        <p:nvPicPr>
          <p:cNvPr id="4" name="Picture 3" descr="chart18_refund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669280" cy="2743200"/>
          </a:xfrm>
          <a:prstGeom prst="rect">
            <a:avLst/>
          </a:prstGeom>
        </p:spPr>
      </p:pic>
      <p:pic>
        <p:nvPicPr>
          <p:cNvPr id="5" name="Picture 4" descr="chart19_cancel_by_c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49039"/>
            <a:ext cx="5669280" cy="2743200"/>
          </a:xfrm>
          <a:prstGeom prst="rect">
            <a:avLst/>
          </a:prstGeom>
        </p:spPr>
      </p:pic>
      <p:pic>
        <p:nvPicPr>
          <p:cNvPr id="6" name="Picture 5" descr="chart20_cancel_by_pay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49039"/>
            <a:ext cx="5669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Revenue &amp; Profitability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Revenue &amp; Cancellation Heatmaps</a:t>
            </a:r>
          </a:p>
        </p:txBody>
      </p:sp>
      <p:pic>
        <p:nvPicPr>
          <p:cNvPr id="3" name="Picture 2" descr="chart21_heatmap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5303520"/>
          </a:xfrm>
          <a:prstGeom prst="rect">
            <a:avLst/>
          </a:prstGeom>
        </p:spPr>
      </p:pic>
      <p:pic>
        <p:nvPicPr>
          <p:cNvPr id="4" name="Picture 3" descr="chart22_heatmap_can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Customer Behaviour &amp; Promotions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Customer &amp; Promotions Impact</a:t>
            </a:r>
          </a:p>
        </p:txBody>
      </p:sp>
      <p:pic>
        <p:nvPicPr>
          <p:cNvPr id="3" name="Picture 2" descr="chart23_coupon_can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3840480" cy="5303520"/>
          </a:xfrm>
          <a:prstGeom prst="rect">
            <a:avLst/>
          </a:prstGeom>
        </p:spPr>
      </p:pic>
      <p:pic>
        <p:nvPicPr>
          <p:cNvPr id="4" name="Picture 3" descr="chart24_cashback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14400"/>
            <a:ext cx="3840480" cy="5303520"/>
          </a:xfrm>
          <a:prstGeom prst="rect">
            <a:avLst/>
          </a:prstGeom>
        </p:spPr>
      </p:pic>
      <p:pic>
        <p:nvPicPr>
          <p:cNvPr id="5" name="Picture 4" descr="chart25_rooms_booked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914400"/>
            <a:ext cx="3840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City-Level Performance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City Performance Comparison</a:t>
            </a:r>
          </a:p>
        </p:txBody>
      </p:sp>
      <p:pic>
        <p:nvPicPr>
          <p:cNvPr id="3" name="Picture 2" descr="chart26_avg_value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5303520"/>
          </a:xfrm>
          <a:prstGeom prst="rect">
            <a:avLst/>
          </a:prstGeom>
        </p:spPr>
      </p:pic>
      <p:pic>
        <p:nvPicPr>
          <p:cNvPr id="4" name="Picture 3" descr="chart27_revenue_by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Recommendations: Reduce Cancellations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Target: Reduce cancellation rate from 20.2% to under 15%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1. Non-refundable Rate Tiers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Offer Standard rooms at 8-12% discount for non-refundable bookings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2. Travel Agent Deposit Policy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Require 20-30% non-refundable deposit on agent bookings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3. Progressive Cancellation Fees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Free within 24hrs --&gt; 10% (7 days) --&gt; 25% (3 days) --&gt; 50% (same day)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4. Check-in Confirmation Nudges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Auto-send reminders for bookings without check-in date after 7 days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5. Upsell Standard to Deluxe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Small $50 credit incentive; saves 7.3pp in cancellation rate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Recommendations: Growth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Improve Profitability &amp; Retention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1. Web-first Loyalty Programme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Reward highest-value, lowest-cancel segment with tiered rewards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2. Personalized Re-booking Flow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Offer 5% discount on alternative dates instead of full refund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3. Dynamic Summer Pricing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+10-15% in Jul-Aug with tighter cancellation policies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4. Off-peak Marketing Push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Nov &amp; Feb-Apr have lowest cancel rates -- best ROI for promotions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5. Mobile App Value Optimization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App-exclusive room upgrades and bundles to close the $7K value gap vs Web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6. Corporate/Repeat Customer Tiers</a:t>
            </a:r>
          </a:p>
          <a:p>
            <a:pPr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499 unique customers averaging 60 bookings each -- loyalty tiers warranted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484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Hotel Bookings Analysis -- Data-Driven Strategy for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
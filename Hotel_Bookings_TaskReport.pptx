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77440"/>
            <a:ext cx="164592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Hotel Bookings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5AF"/>
                </a:solidFill>
              </a:defRPr>
            </a:pPr>
            <a:r>
              <a:t>What the data tells us. Why guests cancel. What to do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5F69"/>
                </a:solidFill>
              </a:defRPr>
            </a:pPr>
            <a:r>
              <a:t>30,000 transactions  |  Apr 2024 – Apr 2025  |  3 channels  ·  3 room types  ·  15 cities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Three Things You Need to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3D297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One in Five Bookings 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20.2% of all bookings get cancelled.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That’s 6,070 lost bookings out of 30K.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Another 7.5% simply fail to complete.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63D297"/>
                </a:solidFill>
              </a:defRPr>
            </a:pPr>
            <a:r>
              <a:t>Combined, you lose $166M in potential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3D297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Summer Is a Cancellation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Jul-Aug cancellation rate: 28.8–30.3%.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That’s nearly 1.5x the annual average.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Guests book multiple hotels, pick the cheapest,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FF7F50"/>
                </a:solidFill>
              </a:defRPr>
            </a:pPr>
            <a:r>
              <a:t>then ghost the rest. Classic peak-season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63D29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No Check-in Date = Almost Certain Cancel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28600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5,468 bookings never got a check-in date.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92.3% of those were cancelled.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That’s 83% of ALL cancellations in one bucket.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63D297"/>
                </a:solidFill>
              </a:defRPr>
            </a:pPr>
            <a:r>
              <a:t>Fix this one data gap, and you fix the majority.</a:t>
            </a:r>
          </a:p>
        </p:txBody>
      </p:sp>
      <p:pic>
        <p:nvPicPr>
          <p:cNvPr id="13" name="Picture 12" descr="chart01_booking_status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3657600" cy="2103120"/>
          </a:xfrm>
          <a:prstGeom prst="rect">
            <a:avLst/>
          </a:prstGeom>
        </p:spPr>
      </p:pic>
      <p:pic>
        <p:nvPicPr>
          <p:cNvPr id="14" name="Picture 13" descr="chart04_monthly_cancel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4572000"/>
            <a:ext cx="594360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Not All Channels Are Created Equal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F69"/>
                </a:solidFill>
              </a:defRPr>
            </a:pPr>
            <a:r>
              <a:t>BY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Web is the golden channel.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63D297"/>
                </a:solidFill>
              </a:defRPr>
            </a:pPr>
            <a:r>
              <a:t>$28,191 avg value • 17.6% cancel rate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50% of all bookings and the lowest cancellations.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Mobile App underperforms on value.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$21,351 avg — that’s 24% less than Web.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Travel Agents are the cancellation king.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FF7F50"/>
                </a:solidFill>
              </a:defRPr>
            </a:pPr>
            <a:r>
              <a:t>27.9% cancel rate. Nearly 1 in 3 bookings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F69"/>
                </a:solidFill>
              </a:defRPr>
            </a:pPr>
            <a:r>
              <a:t>BY ROOM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Standard = highest volume, highest cancel.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55% of bookings but 23.3% cancellation.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It’s the “just-in-case” room. Low commitment.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Deluxe = best retention by far.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63D297"/>
                </a:solidFill>
              </a:defRPr>
            </a:pPr>
            <a:r>
              <a:t>Only 16.0% cancel rate at similar prices.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People who pick Deluxe mean business.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Suite = stable niche (18.0% cancel).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Small volume but consistent.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F69"/>
                </a:solidFill>
              </a:defRPr>
            </a:pPr>
            <a:r>
              <a:t>BY STAR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840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Star rating barely moves the needle.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2-star: 19.8% • 3-star: 20.2%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4-star: 20.0% • 5-star: 21.3%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Cancel rates are essentially flat across stars.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The insight?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1">
                <a:solidFill>
                  <a:srgbClr val="63D297"/>
                </a:solidFill>
              </a:defRPr>
            </a:pPr>
            <a:r>
              <a:t>Cancellation isn’t about quality.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1">
                <a:solidFill>
                  <a:srgbClr val="63D297"/>
                </a:solidFill>
              </a:defRPr>
            </a:pPr>
            <a:r>
              <a:t>It’s about channel and commitment level.</a:t>
            </a:r>
          </a:p>
        </p:txBody>
      </p:sp>
      <p:pic>
        <p:nvPicPr>
          <p:cNvPr id="10" name="Picture 9" descr="chart02_cancel_rate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3657600" cy="2286000"/>
          </a:xfrm>
          <a:prstGeom prst="rect">
            <a:avLst/>
          </a:prstGeom>
        </p:spPr>
      </p:pic>
      <p:pic>
        <p:nvPicPr>
          <p:cNvPr id="11" name="Picture 10" descr="chart09_cancel_by_r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389120"/>
            <a:ext cx="3657600" cy="2286000"/>
          </a:xfrm>
          <a:prstGeom prst="rect">
            <a:avLst/>
          </a:prstGeom>
        </p:spPr>
      </p:pic>
      <p:pic>
        <p:nvPicPr>
          <p:cNvPr id="12" name="Picture 11" descr="chart05_cancel_by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38912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We’re Losing Bookings Before Day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F69"/>
                </a:solidFill>
              </a:defRPr>
            </a:pPr>
            <a:r>
              <a:t>THE CANCELLATION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The missing check-in date is the single biggest red flag.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5,468 bookings had no check-in date. Of those, 92.3% cancelled.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1">
                <a:solidFill>
                  <a:srgbClr val="63D297"/>
                </a:solidFill>
              </a:defRPr>
            </a:pPr>
            <a:r>
              <a:t>This means 83% of all cancellations share one trait: no check-in assigned.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Travel Agents are booking speculatively.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They block rooms in bulk, then release what they can’t sell.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Result: 27.9% cancel rate vs 17.6% for Web direct.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Standard rooms are “placeholder” bookings.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Cheapest option, lowest commitment, easiest to abandon.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23.3% cancel rate — 7.3pp higher than Deluxe.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Summer over-booking is real.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Jul-Aug sees 30% cancellations. Travelers book 2–3 options,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FF7F50"/>
                </a:solidFill>
              </a:defRPr>
            </a:pPr>
            <a:r>
              <a:t>then pick the winner. Your hotel might be the loser.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8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500" b="1">
                <a:solidFill>
                  <a:srgbClr val="FFFFFF"/>
                </a:solidFill>
              </a:defRPr>
            </a:pPr>
            <a:r>
              <a:t>Coupon users and non-users cancel at the same rate.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63D297"/>
                </a:solidFill>
              </a:defRPr>
            </a:pPr>
            <a:r>
              <a:t>Promotions aren’t causing cancellations — that’s good news.</a:t>
            </a:r>
          </a:p>
        </p:txBody>
      </p:sp>
      <p:pic>
        <p:nvPicPr>
          <p:cNvPr id="6" name="Picture 5" descr="chart17_missing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2743200"/>
          </a:xfrm>
          <a:prstGeom prst="rect">
            <a:avLst/>
          </a:prstGeom>
        </p:spPr>
      </p:pic>
      <p:pic>
        <p:nvPicPr>
          <p:cNvPr id="7" name="Picture 6" descr="chart19_cancel_by_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23360"/>
            <a:ext cx="530352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‘Why’ Behind the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F69"/>
                </a:solidFill>
              </a:defRPr>
            </a:pPr>
            <a:r>
              <a:t>WHY SOME CHANNELS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Web users are self-selecting. They research, compare, decide.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63D297"/>
                </a:solidFill>
              </a:defRPr>
            </a:pPr>
            <a:r>
              <a:t>That’s why they spend $28K avg and cancel least.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App users are impulse-driven. Smaller screens, quicker decisions.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Lower avg value ($21K) suggests price-hunting behavior.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Travel Agents batch-book with zero skin in the game.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FF7F50"/>
                </a:solidFill>
              </a:defRPr>
            </a:pPr>
            <a:r>
              <a:t>No deposit = no consequence for cancelling. Simple as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5F69"/>
                </a:solidFill>
              </a:defRPr>
            </a:pPr>
            <a:r>
              <a:t>THE SEASONAL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Summer = high demand, high flakiness.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Booking values actually climb ($26K in Aug vs $22K in Apr).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A0A5AF"/>
                </a:solidFill>
              </a:defRPr>
            </a:pPr>
            <a:r>
              <a:t>But cancellation spikes to 30%. Demand creates over-booking.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0">
                <a:solidFill>
                  <a:srgbClr val="FFFFFF"/>
                </a:solidFill>
              </a:defRPr>
            </a:pPr>
            <a:r>
              <a:t>Nov is the sweet spot: lowest cancel rate (15.9%), solid values ($25.7K).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300" b="0">
                <a:solidFill>
                  <a:srgbClr val="63D297"/>
                </a:solidFill>
              </a:defRPr>
            </a:pPr>
            <a:r>
              <a:t>Yearly trend shows avg values rising 23% YoY — platform growing.</a:t>
            </a:r>
          </a:p>
        </p:txBody>
      </p:sp>
      <p:pic>
        <p:nvPicPr>
          <p:cNvPr id="8" name="Picture 7" descr="chart22_heatmap_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5120640" cy="2560320"/>
          </a:xfrm>
          <a:prstGeom prst="rect">
            <a:avLst/>
          </a:prstGeom>
        </p:spPr>
      </p:pic>
      <p:pic>
        <p:nvPicPr>
          <p:cNvPr id="9" name="Picture 8" descr="chart21_heatmap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93192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How to Stop the Bleeding: 5 Moves to Cut Cancellations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D297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Fix the Check-in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508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5AF"/>
                </a:solidFill>
              </a:defRPr>
            </a:pPr>
            <a:r>
              <a:t>Auto-assign check-in dates at booking. Send confirmation nudges after 48hrs.</a:t>
            </a:r>
            <a:br/>
            <a:r>
              <a:t>83% of cancellations have this gap — closing it is the single highest-ROI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D297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Make Agents Put Skin in the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5AF"/>
                </a:solidFill>
              </a:defRPr>
            </a:pPr>
            <a:r>
              <a:t>Require 20–30% non-refundable deposit on Travel Agent bookings.</a:t>
            </a:r>
            <a:br/>
            <a:r>
              <a:t>They cancel 28% of the time because there’s zero cost to doing 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D29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Launch Non-Refundable Rate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6118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5AF"/>
                </a:solidFill>
              </a:defRPr>
            </a:pPr>
            <a:r>
              <a:t>Offer Standard rooms at 8–12% discount for non-refundable bookings.</a:t>
            </a:r>
            <a:br/>
            <a:r>
              <a:t>People who pick this option are committed. They don’t cancel.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43399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D297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43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Progressive Cancellation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663439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5AF"/>
                </a:solidFill>
              </a:defRPr>
            </a:pPr>
            <a:r>
              <a:t>Free cancel within 24hrs → 10% fee at 7 days → 25% at 3 days → 50% same-day.</a:t>
            </a:r>
            <a:br/>
            <a:r>
              <a:t>Gives flexibility early, but makes last-minute ditching expensive.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D297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Upsell Standard → Deluxe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715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5AF"/>
                </a:solidFill>
              </a:defRPr>
            </a:pPr>
            <a:r>
              <a:t>A $50 room-upgrade credit reduces cancellation by 7.3 percentage points.</a:t>
            </a:r>
            <a:br/>
            <a:r>
              <a:t>Deluxe guests cancel at 16% vs Standard’s 23%. The math writes itself.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How to Make More Money from the Guests You Keep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WEB-FIRST LOYALTY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5AF"/>
                </a:solidFill>
              </a:defRPr>
            </a:pPr>
            <a:r>
              <a:t>Web is 50% of volume with the best economics.</a:t>
            </a:r>
            <a:br/>
            <a:r>
              <a:t>Build a loyalty programme that rewards direct Web bookings.</a:t>
            </a:r>
            <a:br/>
            <a:r>
              <a:t>Tier it: Bronze/Silver/Gold. 499 unique customers averaging 60 bookings each — they deserve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PERSONALIZED RE-BOOKING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5AF"/>
                </a:solidFill>
              </a:defRPr>
            </a:pPr>
            <a:r>
              <a:t>When someone cancels, don’t just refund. Offer 5% off alternative dates.</a:t>
            </a:r>
            <a:br/>
            <a:r>
              <a:t>Turns a loss into a save. Even a 10% conversion rate on 6,070 cancellations = 607 recovered bookings.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MOBILE APP UPSELLS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5AF"/>
                </a:solidFill>
              </a:defRPr>
            </a:pPr>
            <a:r>
              <a:t>App users spend $7K less per booking than Web users.</a:t>
            </a:r>
            <a:br/>
            <a:r>
              <a:t>Close the gap with App-exclusive upgrades: room bundles, late checkout, breakfast add-ons.</a:t>
            </a:r>
            <a:br/>
            <a:r>
              <a:t>The user is already on their phone — make the upgrade feel effortless.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REPEAT CUSTOMER PRICING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5AF"/>
                </a:solidFill>
              </a:defRPr>
            </a:pPr>
            <a:r>
              <a:t>Every customer books an average of 60 times.</a:t>
            </a:r>
            <a:br/>
            <a:r>
              <a:t>Introduce volume-based pricing: 5% off after 10 bookings, 10% after 25.</a:t>
            </a:r>
            <a:br/>
            <a:r>
              <a:t>Lock in loyalty before a competitor does.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Where to Push: Pricing, Promos &amp; Channel Playbook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Summer (Jul-Aug): raise prices 10–15%.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Demand is high, cancel is high. Capture value from committed guests.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Pair with strict cancellation terms to filter out the flippers.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6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Off-peak (Nov, Feb-Apr): push promotions here.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Lowest cancel rates + best ROI on marketing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PROMOTIONS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Coupons don’t increase cancellations — use them freely.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Coupon users cancel at the same rate as non-users.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Target Standard-room bookers with Deluxe upgrade vouchers.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D297"/>
                </a:solidFill>
              </a:defRPr>
            </a:pPr>
            <a:r>
              <a:t>CHANNEL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400" b="1">
                <a:solidFill>
                  <a:srgbClr val="FFFFFF"/>
                </a:solidFill>
              </a:defRPr>
            </a:pPr>
            <a:r>
              <a:t>Double down on Web. It’s your best channel by every metric.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Renegotiate Travel Agent terms. Deposits, shorter booking windows.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200" b="0">
                <a:solidFill>
                  <a:srgbClr val="A0A5AF"/>
                </a:solidFill>
              </a:defRPr>
            </a:pPr>
            <a:r>
              <a:t>Mobile App: not broken, just under-monetized. Fix with bundles.</a:t>
            </a:r>
          </a:p>
        </p:txBody>
      </p:sp>
      <p:pic>
        <p:nvPicPr>
          <p:cNvPr id="10" name="Picture 9" descr="chart03_avg_value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5120640" cy="2377440"/>
          </a:xfrm>
          <a:prstGeom prst="rect">
            <a:avLst/>
          </a:prstGeom>
        </p:spPr>
      </p:pic>
      <p:pic>
        <p:nvPicPr>
          <p:cNvPr id="11" name="Picture 10" descr="chart13_monthly_total_va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84048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645920" cy="36576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2000" b="0">
                <a:solidFill>
                  <a:srgbClr val="A0A5AF"/>
                </a:solidFill>
              </a:defRPr>
            </a:pPr>
            <a:r>
              <a:t>You’re not losing guests because your hotels are bad.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You’re losing them because the system makes cancelling free and easy.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63D297"/>
                </a:solidFill>
              </a:defRPr>
            </a:pPr>
            <a:r>
              <a:t>Fix the check-in data gap.  Make agents pay deposits.  Upsell to Deluxe.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0">
                <a:solidFill>
                  <a:srgbClr val="A0A5AF"/>
                </a:solidFill>
              </a:defRPr>
            </a:pPr>
            <a:r>
              <a:t>Those three moves alone could cut cancellations from 20% to under 15%.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000" b="0">
                <a:solidFill>
                  <a:srgbClr val="A0A5AF"/>
                </a:solidFill>
              </a:defRPr>
            </a:pP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FFFFFF"/>
                </a:solidFill>
              </a:defRPr>
            </a:pPr>
            <a:r>
              <a:t>That’s ~1,500 recovered bookings.  Roughly $37M in recaptured revenue.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63D297"/>
                </a:solidFill>
              </a:defRPr>
            </a:pPr>
            <a:r>
              <a:t>Per 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F69"/>
                </a:solidFill>
              </a:defRPr>
            </a:pPr>
            <a:r>
              <a:t>Hotel Bookings Analysis  ·  30,000 Transactions  ·  Data-Driven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
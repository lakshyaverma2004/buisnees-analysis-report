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Hotel Bookings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0"/>
            <a:ext cx="94484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B4B4B4"/>
                </a:solidFill>
              </a:defRPr>
            </a:pPr>
            <a:r>
              <a:t>End-to-End EDA &amp; Business Strategy  |  30,000 Transactions  |  Apr 2024 – Apr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Executive KPIs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t>Total Bookings: 30,000</a:t>
            </a:r>
          </a:p>
          <a:p>
            <a:pPr lvl="1">
              <a:spcAft>
                <a:spcPts val="400"/>
              </a:spcAft>
              <a:defRPr sz="1400" b="0">
                <a:solidFill>
                  <a:srgbClr val="B4B4B4"/>
                </a:solidFill>
              </a:defRPr>
            </a:pPr>
            <a:r>
              <a:t>Confirmed: 21,672 (72.2%)  |  Cancelled: 6,070 (20.2%)  |  Failed: 2,258 (7.5%)</a:t>
            </a: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t>Average Lead Time: 30.4 days</a:t>
            </a:r>
          </a:p>
          <a:p>
            <a:pPr lvl="1">
              <a:spcAft>
                <a:spcPts val="400"/>
              </a:spcAft>
              <a:defRPr sz="1400" b="0">
                <a:solidFill>
                  <a:srgbClr val="B4B4B4"/>
                </a:solidFill>
              </a:defRPr>
            </a:pPr>
            <a:r>
              <a:t>Average Stay Length: 4.0 days</a:t>
            </a: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t>Average Booking Value: $25,081</a:t>
            </a: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t>Total Confirmed Revenue: $638.8M</a:t>
            </a: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t>Critical Finding: 5,468 bookings (18.2%) have no check-in dates</a:t>
            </a:r>
          </a:p>
          <a:p>
            <a:pPr lvl="1">
              <a:spcAft>
                <a:spcPts val="400"/>
              </a:spcAft>
              <a:defRPr sz="1400" b="0">
                <a:solidFill>
                  <a:srgbClr val="B4B4B4"/>
                </a:solidFill>
              </a:defRPr>
            </a:pPr>
            <a:r>
              <a:t>Of these, 92.3% are Cancelled — accounting for 83% of all cancellations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926080"/>
            <a:ext cx="1828800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10896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Channel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Executive Dashboard</a:t>
            </a:r>
          </a:p>
        </p:txBody>
      </p:sp>
      <p:pic>
        <p:nvPicPr>
          <p:cNvPr id="3" name="Picture 2" descr="chart01_booking_status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3840480" cy="2743200"/>
          </a:xfrm>
          <a:prstGeom prst="rect">
            <a:avLst/>
          </a:prstGeom>
        </p:spPr>
      </p:pic>
      <p:pic>
        <p:nvPicPr>
          <p:cNvPr id="4" name="Picture 3" descr="chart02_cancel_rate_by_chan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914400"/>
            <a:ext cx="3840480" cy="2743200"/>
          </a:xfrm>
          <a:prstGeom prst="rect">
            <a:avLst/>
          </a:prstGeom>
        </p:spPr>
      </p:pic>
      <p:pic>
        <p:nvPicPr>
          <p:cNvPr id="5" name="Picture 4" descr="chart03_avg_value_by_chann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914400"/>
            <a:ext cx="3840480" cy="2743200"/>
          </a:xfrm>
          <a:prstGeom prst="rect">
            <a:avLst/>
          </a:prstGeom>
        </p:spPr>
      </p:pic>
      <p:pic>
        <p:nvPicPr>
          <p:cNvPr id="6" name="Picture 5" descr="chart04_monthly_cancel_tre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3840480"/>
            <a:ext cx="5669280" cy="2743200"/>
          </a:xfrm>
          <a:prstGeom prst="rect">
            <a:avLst/>
          </a:prstGeom>
        </p:spPr>
      </p:pic>
      <p:pic>
        <p:nvPicPr>
          <p:cNvPr id="7" name="Picture 6" descr="chart05_cancel_by_st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3840480"/>
            <a:ext cx="566928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Booking Channel Deep-Dive</a:t>
            </a:r>
          </a:p>
        </p:txBody>
      </p:sp>
      <p:pic>
        <p:nvPicPr>
          <p:cNvPr id="3" name="Picture 2" descr="chart06_volume_by_channel_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3840480" cy="5303520"/>
          </a:xfrm>
          <a:prstGeom prst="rect">
            <a:avLst/>
          </a:prstGeom>
        </p:spPr>
      </p:pic>
      <p:pic>
        <p:nvPicPr>
          <p:cNvPr id="4" name="Picture 3" descr="chart07_value_boxplot_chan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005840"/>
            <a:ext cx="3840480" cy="5303520"/>
          </a:xfrm>
          <a:prstGeom prst="rect">
            <a:avLst/>
          </a:prstGeom>
        </p:spPr>
      </p:pic>
      <p:pic>
        <p:nvPicPr>
          <p:cNvPr id="5" name="Picture 4" descr="chart08_platform_vs_chann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005840"/>
            <a:ext cx="384048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Channel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t>Web Channel — Best Performer</a:t>
            </a:r>
          </a:p>
          <a:p>
            <a:pPr lvl="1">
              <a:spcAft>
                <a:spcPts val="400"/>
              </a:spcAft>
              <a:defRPr sz="1400" b="0">
                <a:solidFill>
                  <a:srgbClr val="B4B4B4"/>
                </a:solidFill>
              </a:defRPr>
            </a:pPr>
            <a:r>
              <a:t>50.0% of volume  |  17.6% cancel rate  |  $28,191 avg value</a:t>
            </a:r>
          </a:p>
          <a:p>
            <a:pPr lvl="1">
              <a:spcAft>
                <a:spcPts val="400"/>
              </a:spcAft>
              <a:defRPr sz="1400" b="0">
                <a:solidFill>
                  <a:srgbClr val="B4B4B4"/>
                </a:solidFill>
              </a:defRPr>
            </a:pPr>
            <a:r>
              <a:t>Highest value, lowest cancellation — reward with loyalty programme</a:t>
            </a: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t>Mobile App — Price-Sensitive Segment</a:t>
            </a:r>
          </a:p>
          <a:p>
            <a:pPr lvl="1">
              <a:spcAft>
                <a:spcPts val="400"/>
              </a:spcAft>
              <a:defRPr sz="1400" b="0">
                <a:solidFill>
                  <a:srgbClr val="B4B4B4"/>
                </a:solidFill>
              </a:defRPr>
            </a:pPr>
            <a:r>
              <a:t>40.0% of volume  |  21.6% cancel rate  |  $21,351 avg value</a:t>
            </a:r>
          </a:p>
          <a:p>
            <a:pPr lvl="1">
              <a:spcAft>
                <a:spcPts val="400"/>
              </a:spcAft>
              <a:defRPr sz="1400" b="0">
                <a:solidFill>
                  <a:srgbClr val="B4B4B4"/>
                </a:solidFill>
              </a:defRPr>
            </a:pPr>
            <a:r>
              <a:t>24% lower value than Web — upsell with App-exclusive room upgrades</a:t>
            </a: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t>Travel Agent — Cancellation Crisis</a:t>
            </a:r>
          </a:p>
          <a:p>
            <a:pPr lvl="1">
              <a:spcAft>
                <a:spcPts val="400"/>
              </a:spcAft>
              <a:defRPr sz="1400" b="0">
                <a:solidFill>
                  <a:srgbClr val="B4B4B4"/>
                </a:solidFill>
              </a:defRPr>
            </a:pPr>
            <a:r>
              <a:t>10.0% of volume  |  27.9% cancel rate  |  $24,454 avg value</a:t>
            </a:r>
          </a:p>
          <a:p>
            <a:pPr lvl="1">
              <a:spcAft>
                <a:spcPts val="400"/>
              </a:spcAft>
              <a:defRPr sz="1400" b="0">
                <a:solidFill>
                  <a:srgbClr val="B4B4B4"/>
                </a:solidFill>
              </a:defRPr>
            </a:pPr>
            <a:r>
              <a:t>Likely speculative bulk bookings — require 20-30% non-refundable deposit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926080"/>
            <a:ext cx="1828800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10896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Room Type &amp; Star Rating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Room Type &amp; Star Rating Analysis</a:t>
            </a:r>
          </a:p>
        </p:txBody>
      </p:sp>
      <p:pic>
        <p:nvPicPr>
          <p:cNvPr id="3" name="Picture 2" descr="chart09_cancel_by_r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669280" cy="2743200"/>
          </a:xfrm>
          <a:prstGeom prst="rect">
            <a:avLst/>
          </a:prstGeom>
        </p:spPr>
      </p:pic>
      <p:pic>
        <p:nvPicPr>
          <p:cNvPr id="4" name="Picture 3" descr="chart10_volume_by_room_stat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914400"/>
            <a:ext cx="5669280" cy="2743200"/>
          </a:xfrm>
          <a:prstGeom prst="rect">
            <a:avLst/>
          </a:prstGeom>
        </p:spPr>
      </p:pic>
      <p:pic>
        <p:nvPicPr>
          <p:cNvPr id="5" name="Picture 4" descr="chart11_value_star_statu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840480"/>
            <a:ext cx="5669280" cy="2743200"/>
          </a:xfrm>
          <a:prstGeom prst="rect">
            <a:avLst/>
          </a:prstGeom>
        </p:spPr>
      </p:pic>
      <p:pic>
        <p:nvPicPr>
          <p:cNvPr id="6" name="Picture 5" descr="chart12_margin_viol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3840480"/>
            <a:ext cx="566928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Room Type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t>Standard Rooms — Highest Cancellation (23.3%)</a:t>
            </a:r>
          </a:p>
          <a:p>
            <a:pPr lvl="1">
              <a:spcAft>
                <a:spcPts val="400"/>
              </a:spcAft>
              <a:defRPr sz="1400" b="0">
                <a:solidFill>
                  <a:srgbClr val="B4B4B4"/>
                </a:solidFill>
              </a:defRPr>
            </a:pPr>
            <a:r>
              <a:t>55.2% of all bookings but worst retention</a:t>
            </a:r>
          </a:p>
          <a:p>
            <a:pPr lvl="1">
              <a:spcAft>
                <a:spcPts val="400"/>
              </a:spcAft>
              <a:defRPr sz="1400" b="0">
                <a:solidFill>
                  <a:srgbClr val="B4B4B4"/>
                </a:solidFill>
              </a:defRPr>
            </a:pPr>
            <a:r>
              <a:t>Low-commitment choice — easy to book as placeholder, easy to cancel</a:t>
            </a:r>
          </a:p>
          <a:p>
            <a:pPr lvl="1">
              <a:spcAft>
                <a:spcPts val="400"/>
              </a:spcAft>
              <a:defRPr sz="1400" b="0">
                <a:solidFill>
                  <a:srgbClr val="B4B4B4"/>
                </a:solidFill>
              </a:defRPr>
            </a:pPr>
            <a:r>
              <a:t>Strategy: Offer 8-12% non-refundable discount to lock commitment</a:t>
            </a: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t>Deluxe Rooms — Best Retention (16.0%)</a:t>
            </a:r>
          </a:p>
          <a:p>
            <a:pPr lvl="1">
              <a:spcAft>
                <a:spcPts val="400"/>
              </a:spcAft>
              <a:defRPr sz="1400" b="0">
                <a:solidFill>
                  <a:srgbClr val="B4B4B4"/>
                </a:solidFill>
              </a:defRPr>
            </a:pPr>
            <a:r>
              <a:t>34.9% of bookings at similar price to Standard ($25K avg)</a:t>
            </a:r>
          </a:p>
          <a:p>
            <a:pPr lvl="1">
              <a:spcAft>
                <a:spcPts val="400"/>
              </a:spcAft>
              <a:defRPr sz="1400" b="0">
                <a:solidFill>
                  <a:srgbClr val="B4B4B4"/>
                </a:solidFill>
              </a:defRPr>
            </a:pPr>
            <a:r>
              <a:t>Premium choice signals committed travel plans</a:t>
            </a:r>
          </a:p>
          <a:p>
            <a:pPr lvl="1">
              <a:spcAft>
                <a:spcPts val="400"/>
              </a:spcAft>
              <a:defRPr sz="1400" b="0">
                <a:solidFill>
                  <a:srgbClr val="B4B4B4"/>
                </a:solidFill>
              </a:defRPr>
            </a:pPr>
            <a:r>
              <a:t>Strategy: Upsell Standard → Deluxe with small $50 credit incentive</a:t>
            </a: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t>Suite Rooms — Mid-Range (18.0%)</a:t>
            </a:r>
          </a:p>
          <a:p>
            <a:pPr lvl="1">
              <a:spcAft>
                <a:spcPts val="400"/>
              </a:spcAft>
              <a:defRPr sz="1400" b="0">
                <a:solidFill>
                  <a:srgbClr val="B4B4B4"/>
                </a:solidFill>
              </a:defRPr>
            </a:pPr>
            <a:r>
              <a:t>9.9% of bookings — niche segment, stable performance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926080"/>
            <a:ext cx="1828800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10896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Temporal Trends &amp; Seasonality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Temporal Trends &amp; Seasonality</a:t>
            </a:r>
          </a:p>
        </p:txBody>
      </p:sp>
      <p:pic>
        <p:nvPicPr>
          <p:cNvPr id="3" name="Picture 2" descr="chart13_monthly_total_va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669280" cy="2743200"/>
          </a:xfrm>
          <a:prstGeom prst="rect">
            <a:avLst/>
          </a:prstGeom>
        </p:spPr>
      </p:pic>
      <p:pic>
        <p:nvPicPr>
          <p:cNvPr id="4" name="Picture 3" descr="chart14_monthly_avg_va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914400"/>
            <a:ext cx="5669280" cy="2743200"/>
          </a:xfrm>
          <a:prstGeom prst="rect">
            <a:avLst/>
          </a:prstGeom>
        </p:spPr>
      </p:pic>
      <p:pic>
        <p:nvPicPr>
          <p:cNvPr id="5" name="Picture 4" descr="chart15_stay_length_di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840480"/>
            <a:ext cx="5669280" cy="2743200"/>
          </a:xfrm>
          <a:prstGeom prst="rect">
            <a:avLst/>
          </a:prstGeom>
        </p:spPr>
      </p:pic>
      <p:pic>
        <p:nvPicPr>
          <p:cNvPr id="6" name="Picture 5" descr="chart16_lead_time_comparis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3840480"/>
            <a:ext cx="566928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Seasonal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t>Summer Peak (Jul-Aug): Cancellations spike to 28.8 – 30.3%</a:t>
            </a:r>
          </a:p>
          <a:p>
            <a:pPr lvl="1">
              <a:spcAft>
                <a:spcPts val="400"/>
              </a:spcAft>
              <a:defRPr sz="1400" b="0">
                <a:solidFill>
                  <a:srgbClr val="B4B4B4"/>
                </a:solidFill>
              </a:defRPr>
            </a:pPr>
            <a:r>
              <a:t>Peak vacation season creates over-booking behaviour</a:t>
            </a:r>
          </a:p>
          <a:p>
            <a:pPr lvl="1">
              <a:spcAft>
                <a:spcPts val="400"/>
              </a:spcAft>
              <a:defRPr sz="1400" b="0">
                <a:solidFill>
                  <a:srgbClr val="B4B4B4"/>
                </a:solidFill>
              </a:defRPr>
            </a:pPr>
            <a:r>
              <a:t>Strategy: Increase prices 10-15% + tighten cancellation policies</a:t>
            </a: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t>Holiday Bump (Dec-Jan): 23.7 – 25.8% cancellation</a:t>
            </a:r>
          </a:p>
          <a:p>
            <a:pPr lvl="1">
              <a:spcAft>
                <a:spcPts val="400"/>
              </a:spcAft>
              <a:defRPr sz="1400" b="0">
                <a:solidFill>
                  <a:srgbClr val="B4B4B4"/>
                </a:solidFill>
              </a:defRPr>
            </a:pPr>
            <a:r>
              <a:t>Year-end corporate budget cycles and holiday uncertainty</a:t>
            </a: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t>Booking Values Trending Up</a:t>
            </a:r>
          </a:p>
          <a:p>
            <a:pPr lvl="1">
              <a:spcAft>
                <a:spcPts val="400"/>
              </a:spcAft>
              <a:defRPr sz="1400" b="0">
                <a:solidFill>
                  <a:srgbClr val="B4B4B4"/>
                </a:solidFill>
              </a:defRPr>
            </a:pPr>
            <a:r>
              <a:t>Apr 2024: $22.5K → Apr 2025: $27.8K (+23% YoY growth)</a:t>
            </a:r>
          </a:p>
          <a:p>
            <a:pPr lvl="1">
              <a:spcAft>
                <a:spcPts val="400"/>
              </a:spcAft>
              <a:defRPr sz="1400" b="0">
                <a:solidFill>
                  <a:srgbClr val="B4B4B4"/>
                </a:solidFill>
              </a:defRPr>
            </a:pPr>
            <a:r>
              <a:t>Platform is moving upmarket or implementing dynamic pricing</a:t>
            </a: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t>Best Months (Lowest Cancellation)</a:t>
            </a:r>
          </a:p>
          <a:p>
            <a:pPr lvl="1">
              <a:spcAft>
                <a:spcPts val="400"/>
              </a:spcAft>
              <a:defRPr sz="1400" b="0">
                <a:solidFill>
                  <a:srgbClr val="B4B4B4"/>
                </a:solidFill>
              </a:defRPr>
            </a:pPr>
            <a:r>
              <a:t>November (15.9%) and April 2025 (16.1%) — push marketing spend here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926080"/>
            <a:ext cx="1828800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10896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Cancellation Deep Dive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Cancellation Behaviour — Root Causes</a:t>
            </a:r>
          </a:p>
        </p:txBody>
      </p:sp>
      <p:pic>
        <p:nvPicPr>
          <p:cNvPr id="3" name="Picture 2" descr="chart17_missing_check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669280" cy="2743200"/>
          </a:xfrm>
          <a:prstGeom prst="rect">
            <a:avLst/>
          </a:prstGeom>
        </p:spPr>
      </p:pic>
      <p:pic>
        <p:nvPicPr>
          <p:cNvPr id="4" name="Picture 3" descr="chart18_refund_stat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914400"/>
            <a:ext cx="5669280" cy="2743200"/>
          </a:xfrm>
          <a:prstGeom prst="rect">
            <a:avLst/>
          </a:prstGeom>
        </p:spPr>
      </p:pic>
      <p:pic>
        <p:nvPicPr>
          <p:cNvPr id="5" name="Picture 4" descr="chart19_cancel_by_c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840480"/>
            <a:ext cx="5669280" cy="2743200"/>
          </a:xfrm>
          <a:prstGeom prst="rect">
            <a:avLst/>
          </a:prstGeom>
        </p:spPr>
      </p:pic>
      <p:pic>
        <p:nvPicPr>
          <p:cNvPr id="6" name="Picture 5" descr="chart20_cancel_by_paym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3840480"/>
            <a:ext cx="566928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926080"/>
            <a:ext cx="1828800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10896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Revenue &amp; Profitability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Revenue &amp; Cancellation Heatmaps</a:t>
            </a:r>
          </a:p>
        </p:txBody>
      </p:sp>
      <p:pic>
        <p:nvPicPr>
          <p:cNvPr id="3" name="Picture 2" descr="chart21_heatmap_va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5669280" cy="5303520"/>
          </a:xfrm>
          <a:prstGeom prst="rect">
            <a:avLst/>
          </a:prstGeom>
        </p:spPr>
      </p:pic>
      <p:pic>
        <p:nvPicPr>
          <p:cNvPr id="4" name="Picture 3" descr="chart22_heatmap_canc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05840"/>
            <a:ext cx="566928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926080"/>
            <a:ext cx="1828800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10896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Customer Behaviour &amp; Promotions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Customer Behaviour &amp; Promotions Impact</a:t>
            </a:r>
          </a:p>
        </p:txBody>
      </p:sp>
      <p:pic>
        <p:nvPicPr>
          <p:cNvPr id="3" name="Picture 2" descr="chart23_coupon_canc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3840480" cy="5303520"/>
          </a:xfrm>
          <a:prstGeom prst="rect">
            <a:avLst/>
          </a:prstGeom>
        </p:spPr>
      </p:pic>
      <p:pic>
        <p:nvPicPr>
          <p:cNvPr id="4" name="Picture 3" descr="chart24_cashback_d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005840"/>
            <a:ext cx="3840480" cy="5303520"/>
          </a:xfrm>
          <a:prstGeom prst="rect">
            <a:avLst/>
          </a:prstGeom>
        </p:spPr>
      </p:pic>
      <p:pic>
        <p:nvPicPr>
          <p:cNvPr id="5" name="Picture 4" descr="chart25_rooms_booked_statu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005840"/>
            <a:ext cx="384048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926080"/>
            <a:ext cx="1828800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10896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City-Level Performance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City-Level Performance Comparison</a:t>
            </a:r>
          </a:p>
        </p:txBody>
      </p:sp>
      <p:pic>
        <p:nvPicPr>
          <p:cNvPr id="3" name="Picture 2" descr="chart26_avg_value_by_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5669280" cy="5303520"/>
          </a:xfrm>
          <a:prstGeom prst="rect">
            <a:avLst/>
          </a:prstGeom>
        </p:spPr>
      </p:pic>
      <p:pic>
        <p:nvPicPr>
          <p:cNvPr id="4" name="Picture 3" descr="chart27_revenue_by_c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05840"/>
            <a:ext cx="566928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Strategic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t>A. Reduce Cancellations (Target: 20.2% → ≤15%)</a:t>
            </a:r>
          </a:p>
          <a:p>
            <a:pPr lvl="1">
              <a:spcAft>
                <a:spcPts val="400"/>
              </a:spcAft>
              <a:defRPr sz="1400" b="0">
                <a:solidFill>
                  <a:srgbClr val="B4B4B4"/>
                </a:solidFill>
              </a:defRPr>
            </a:pPr>
            <a:r>
              <a:t>Non-refundable rate tiers for Standard rooms (8-12% discount)</a:t>
            </a:r>
          </a:p>
          <a:p>
            <a:pPr lvl="1">
              <a:spcAft>
                <a:spcPts val="400"/>
              </a:spcAft>
              <a:defRPr sz="1400" b="0">
                <a:solidFill>
                  <a:srgbClr val="B4B4B4"/>
                </a:solidFill>
              </a:defRPr>
            </a:pPr>
            <a:r>
              <a:t>Travel Agent deposit policy: 20-30% non-refundable</a:t>
            </a:r>
          </a:p>
          <a:p>
            <a:pPr lvl="1">
              <a:spcAft>
                <a:spcPts val="400"/>
              </a:spcAft>
              <a:defRPr sz="1400" b="0">
                <a:solidFill>
                  <a:srgbClr val="B4B4B4"/>
                </a:solidFill>
              </a:defRPr>
            </a:pPr>
            <a:r>
              <a:t>Progressive cancellation fees: Free 24hr → 10% → 25% → 50%</a:t>
            </a:r>
          </a:p>
          <a:p>
            <a:pPr lvl="1">
              <a:spcAft>
                <a:spcPts val="400"/>
              </a:spcAft>
              <a:defRPr sz="1400" b="0">
                <a:solidFill>
                  <a:srgbClr val="B4B4B4"/>
                </a:solidFill>
              </a:defRPr>
            </a:pPr>
            <a:r>
              <a:t>Automated confirmation nudges for bookings without check-in date &gt; 7 days</a:t>
            </a: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t>B. Improve Profitability &amp; Retention</a:t>
            </a:r>
          </a:p>
          <a:p>
            <a:pPr lvl="1">
              <a:spcAft>
                <a:spcPts val="400"/>
              </a:spcAft>
              <a:defRPr sz="1400" b="0">
                <a:solidFill>
                  <a:srgbClr val="B4B4B4"/>
                </a:solidFill>
              </a:defRPr>
            </a:pPr>
            <a:r>
              <a:t>Upsell Standard → Deluxe (7.3pp lower cancellation at similar prices)</a:t>
            </a:r>
          </a:p>
          <a:p>
            <a:pPr lvl="1">
              <a:spcAft>
                <a:spcPts val="400"/>
              </a:spcAft>
              <a:defRPr sz="1400" b="0">
                <a:solidFill>
                  <a:srgbClr val="B4B4B4"/>
                </a:solidFill>
              </a:defRPr>
            </a:pPr>
            <a:r>
              <a:t>Web-first loyalty programme for highest-value, lowest-cancel segment</a:t>
            </a:r>
          </a:p>
          <a:p>
            <a:pPr lvl="1">
              <a:spcAft>
                <a:spcPts val="400"/>
              </a:spcAft>
              <a:defRPr sz="1400" b="0">
                <a:solidFill>
                  <a:srgbClr val="B4B4B4"/>
                </a:solidFill>
              </a:defRPr>
            </a:pPr>
            <a:r>
              <a:t>Personalized re-booking flow: 5% discount instead of full refund</a:t>
            </a:r>
          </a:p>
          <a:p>
            <a:pPr lvl="1">
              <a:spcAft>
                <a:spcPts val="400"/>
              </a:spcAft>
              <a:defRPr sz="1400" b="0">
                <a:solidFill>
                  <a:srgbClr val="B4B4B4"/>
                </a:solidFill>
              </a:defRPr>
            </a:pPr>
            <a:r>
              <a:t>Corporate/repeat tiers: Bronze/Silver/Gold (avg 60 bookings per customer)</a:t>
            </a: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t>C. Pricing &amp; Channel Optimization</a:t>
            </a:r>
          </a:p>
          <a:p>
            <a:pPr lvl="1">
              <a:spcAft>
                <a:spcPts val="400"/>
              </a:spcAft>
              <a:defRPr sz="1400" b="0">
                <a:solidFill>
                  <a:srgbClr val="B4B4B4"/>
                </a:solidFill>
              </a:defRPr>
            </a:pPr>
            <a:r>
              <a:t>Dynamic summer pricing: +10-15% in Jul-Aug with strict cancel policies</a:t>
            </a:r>
          </a:p>
          <a:p>
            <a:pPr lvl="1">
              <a:spcAft>
                <a:spcPts val="400"/>
              </a:spcAft>
              <a:defRPr sz="1400" b="0">
                <a:solidFill>
                  <a:srgbClr val="B4B4B4"/>
                </a:solidFill>
              </a:defRPr>
            </a:pPr>
            <a:r>
              <a:t>Off-peak promotion push: Nov &amp; Feb-Apr (lowest cancel rates, highest ROI)</a:t>
            </a:r>
          </a:p>
          <a:p>
            <a:pPr lvl="1">
              <a:spcAft>
                <a:spcPts val="400"/>
              </a:spcAft>
              <a:defRPr sz="1400" b="0">
                <a:solidFill>
                  <a:srgbClr val="B4B4B4"/>
                </a:solidFill>
              </a:defRPr>
            </a:pPr>
            <a:r>
              <a:t>Mobile App value optimization: App-exclusive upgrades &amp; bundles</a:t>
            </a:r>
          </a:p>
          <a:p>
            <a:pPr lvl="1">
              <a:spcAft>
                <a:spcPts val="400"/>
              </a:spcAft>
              <a:defRPr sz="1400" b="0">
                <a:solidFill>
                  <a:srgbClr val="B4B4B4"/>
                </a:solidFill>
              </a:defRPr>
            </a:pPr>
            <a:r>
              <a:t>City-targeted campaigns for LA (20.9%) and Chicago (20.5%)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0"/>
            <a:ext cx="94484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B4B4B4"/>
                </a:solidFill>
              </a:defRPr>
            </a:pPr>
            <a:r>
              <a:t>Hotel Bookings EDA — Data-Driven Strategy for Growth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
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Hotel Bookings Portfolio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DD7"/>
                </a:solidFill>
              </a:defRPr>
            </a:pPr>
            <a:r>
              <a:t>Standardizing Operations to Recapture $37M in Annual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023360"/>
            <a:ext cx="3657600" cy="32004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28C9B"/>
                </a:solidFill>
              </a:defRPr>
            </a:pPr>
            <a: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28C9B"/>
                </a:solidFill>
              </a:defRPr>
            </a:pPr>
            <a:r>
              <a:t>Analysis Period: April 2024 – April 2025  |  30,000 Transactions  |  3 Channels · 3 Room Types · 15 Cities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C9B"/>
                </a:solidFill>
              </a:defRPr>
            </a:pPr>
            <a:r>
              <a:t>Prepared for: Senior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Fixing Three Systemic Issues Can Reduce Cancellations from 20% to &lt;15%, Recovering $37M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728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DD7"/>
                </a:solidFill>
              </a:defRPr>
            </a:pPr>
            <a:r>
              <a:t>Executive Summary: The cancellation problem is concentrated, predictable, and solvable with five targeted interventions.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881360" cy="10972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8C"/>
                </a:solidFill>
              </a:defRPr>
            </a:pPr>
            <a:r>
              <a:t>THE CORE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DD7"/>
                </a:solidFill>
              </a:defRPr>
            </a:pPr>
            <a:r>
              <a:t>83% of all cancellations share a single trait: no check-in date was assigned at booking. This is not a demand problem—it is a process gap. Fixing this one data issue, combined with channel and pricing reforms, can recapture ~1,500 bookings and $37M annually.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3474720" cy="2377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8C"/>
                </a:solidFill>
              </a:defRPr>
            </a:pPr>
            <a:r>
              <a:t>DATA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67E56"/>
                </a:solidFill>
              </a:defRPr>
            </a:pPr>
            <a:r>
              <a:t>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DD7"/>
                </a:solidFill>
              </a:defRPr>
            </a:pPr>
            <a:r>
              <a:t>5,468 bookings lacked check-in dates.</a:t>
            </a:r>
            <a:br/>
            <a:r>
              <a:t>92.3% of those cancelled.</a:t>
            </a:r>
            <a:br/>
            <a:r>
              <a:t>Accounts for 83% of total cancellations.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2651760"/>
            <a:ext cx="3474720" cy="2377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8C"/>
                </a:solidFill>
              </a:defRPr>
            </a:pPr>
            <a:r>
              <a:t>CHANNEL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67E56"/>
                </a:solidFill>
              </a:defRPr>
            </a:pPr>
            <a:r>
              <a:t>27.9%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1089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DD7"/>
                </a:solidFill>
              </a:defRPr>
            </a:pPr>
            <a:r>
              <a:t>Travel Agents cancel 27.9% of bookings.</a:t>
            </a:r>
            <a:br/>
            <a:r>
              <a:t>Web cancels only 17.6% at 32% higher value.</a:t>
            </a:r>
            <a:br/>
            <a:r>
              <a:t>Agent model has zero financial consequence for cancelling.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2651760"/>
            <a:ext cx="3474720" cy="2377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8C"/>
                </a:solidFill>
              </a:defRPr>
            </a:pPr>
            <a:r>
              <a:t>SEASONAL SPIKES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9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67E56"/>
                </a:solidFill>
              </a:defRPr>
            </a:pPr>
            <a:r>
              <a:t>30.3%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1089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DD7"/>
                </a:solidFill>
              </a:defRPr>
            </a:pPr>
            <a:r>
              <a:t>Jul-Aug cancellation: 28.8–30.3%.</a:t>
            </a:r>
            <a:br/>
            <a:r>
              <a:t>Peak demand enables speculative multi-booking.</a:t>
            </a:r>
            <a:br/>
            <a:r>
              <a:t>Nov is the healthiest month at 15.9%.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8C"/>
                </a:solidFill>
              </a:defRPr>
            </a:pPr>
            <a:r>
              <a:t>PROJECTED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B96B"/>
                </a:solidFill>
              </a:defRPr>
            </a:pPr>
            <a:r>
              <a:t>Cancel rate: 20.2% → &lt;15%   |   Recovered bookings: ~1,500/year   |   Revenue recaptured: ~$37M/year   |   Implementation: 60–90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C9B"/>
                </a:solidFill>
              </a:defRPr>
            </a:pPr>
            <a:r>
              <a:t>Source: Hotel_bookings_final.csv, 30,000 transactions, Apr 2024–Apr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One in Five Bookings Is Lost Before the Guest Arrives, Representing $166M in Unrealized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728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DD7"/>
                </a:solidFill>
              </a:defRPr>
            </a:pPr>
            <a:r>
              <a:t>The 20.2% cancellation rate is not uniformly distributed—it clusters around specific channels, room types, and data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C9B"/>
                </a:solidFill>
              </a:defRPr>
            </a:pPr>
            <a:r>
              <a:t>Source: Hotel_bookings_final.csv | N=30,000 | Unrealized revenue = cancelled booking values + failed booking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194560" cy="1280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C9B"/>
                </a:solidFill>
              </a:defRPr>
            </a:pPr>
            <a:r>
              <a:t>Total Bookings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371600"/>
            <a:ext cx="2194560" cy="1280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508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8C"/>
                </a:solidFill>
              </a:defRPr>
            </a:pPr>
            <a:r>
              <a:t>21,672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C9B"/>
                </a:solidFill>
              </a:defRPr>
            </a:pPr>
            <a:r>
              <a:t>Confirmed (72.2%)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371600"/>
            <a:ext cx="2194560" cy="1280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508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56"/>
                </a:solidFill>
              </a:defRPr>
            </a:pPr>
            <a:r>
              <a:t>6,070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C9B"/>
                </a:solidFill>
              </a:defRPr>
            </a:pPr>
            <a:r>
              <a:t>Cancelled (20.2%)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371600"/>
            <a:ext cx="2194560" cy="1280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08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28C9B"/>
                </a:solidFill>
              </a:defRPr>
            </a:pPr>
            <a:r>
              <a:t>2,258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C9B"/>
                </a:solidFill>
              </a:defRPr>
            </a:pPr>
            <a:r>
              <a:t>Failed (7.5%)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1371600"/>
            <a:ext cx="2194560" cy="1280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1508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AB96B"/>
                </a:solidFill>
              </a:defRPr>
            </a:pPr>
            <a:r>
              <a:t>$638.8M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C9B"/>
                </a:solidFill>
              </a:defRPr>
            </a:pPr>
            <a:r>
              <a:t>Confirmed Revenue</a:t>
            </a:r>
          </a:p>
        </p:txBody>
      </p:sp>
      <p:pic>
        <p:nvPicPr>
          <p:cNvPr id="21" name="Picture 20" descr="chart01_booking_statu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4114800" cy="3200400"/>
          </a:xfrm>
          <a:prstGeom prst="rect">
            <a:avLst/>
          </a:prstGeom>
        </p:spPr>
      </p:pic>
      <p:pic>
        <p:nvPicPr>
          <p:cNvPr id="22" name="Picture 21" descr="chart04_monthly_cancel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926080"/>
            <a:ext cx="6858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Standardizing Check-in Date Assignment at Booking Can Eliminate 83% of Cancellation Volume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728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DD7"/>
                </a:solidFill>
              </a:defRPr>
            </a:pPr>
            <a:r>
              <a:t>The single largest driver of cancellations is a process gap, not a demand issue.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C9B"/>
                </a:solidFill>
              </a:defRPr>
            </a:pPr>
            <a:r>
              <a:t>Source: Hotel_bookings_final.csv | Missing check-in analysis on 5,468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486400" cy="48463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8C"/>
                </a:solidFill>
              </a:defRPr>
            </a:pPr>
            <a:r>
              <a:t>THE DATA GAP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5,468 of 30,000 bookings (18.2%) have no check-in date assigned.</a:t>
            </a:r>
          </a:p>
          <a:p>
            <a:pPr>
              <a:spcAft>
                <a:spcPts val="500"/>
              </a:spcAft>
              <a:defRPr sz="400" b="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C8CDD7"/>
                </a:solidFill>
              </a:defRPr>
            </a:pPr>
            <a:r>
              <a:t>Of those 5,468 bookings without check-in dates:</a:t>
            </a:r>
          </a:p>
          <a:p>
            <a:pPr>
              <a:spcAft>
                <a:spcPts val="500"/>
              </a:spcAft>
              <a:defRPr sz="1200" b="1">
                <a:solidFill>
                  <a:srgbClr val="E67E56"/>
                </a:solidFill>
              </a:defRPr>
            </a:pPr>
            <a:r>
              <a:t>•  5,045 were Cancelled (92.3%)</a:t>
            </a:r>
          </a:p>
          <a:p>
            <a:pPr>
              <a:spcAft>
                <a:spcPts val="500"/>
              </a:spcAft>
              <a:defRPr sz="1200" b="0">
                <a:solidFill>
                  <a:srgbClr val="828C9B"/>
                </a:solidFill>
              </a:defRPr>
            </a:pPr>
            <a:r>
              <a:t>•  423 were Failed (7.7%)</a:t>
            </a:r>
          </a:p>
          <a:p>
            <a:pPr>
              <a:spcAft>
                <a:spcPts val="500"/>
              </a:spcAft>
              <a:defRPr sz="1200" b="0">
                <a:solidFill>
                  <a:srgbClr val="828C9B"/>
                </a:solidFill>
              </a:defRPr>
            </a:pPr>
            <a:r>
              <a:t>•  0 were Confirmed (0.0%)</a:t>
            </a:r>
          </a:p>
          <a:p>
            <a:pPr>
              <a:spcAft>
                <a:spcPts val="500"/>
              </a:spcAft>
              <a:defRPr sz="400" b="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This means 83% of all 6,070 cancellations come from this single bucket.</a:t>
            </a:r>
          </a:p>
          <a:p>
            <a:pPr>
              <a:spcAft>
                <a:spcPts val="500"/>
              </a:spcAft>
              <a:defRPr sz="400" b="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C8CDD7"/>
                </a:solidFill>
              </a:defRPr>
            </a:pPr>
            <a:r>
              <a:t>Implication: A booking without a check-in date is effectively</a:t>
            </a:r>
          </a:p>
          <a:p>
            <a:pPr>
              <a:spcAft>
                <a:spcPts val="500"/>
              </a:spcAft>
              <a:defRPr sz="1200" b="1">
                <a:solidFill>
                  <a:srgbClr val="00B48C"/>
                </a:solidFill>
              </a:defRPr>
            </a:pPr>
            <a:r>
              <a:t>already cancelled. The system just hasn’t registered it yet.</a:t>
            </a:r>
          </a:p>
          <a:p>
            <a:pPr>
              <a:spcAft>
                <a:spcPts val="500"/>
              </a:spcAft>
              <a:defRPr sz="400" b="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300" b="1">
                <a:solidFill>
                  <a:srgbClr val="DAB96B"/>
                </a:solidFill>
              </a:defRPr>
            </a:pPr>
            <a:r>
              <a:t>Recommendation: Auto-assign check-in dates at time of booking.</a:t>
            </a:r>
          </a:p>
          <a:p>
            <a:pPr>
              <a:spcAft>
                <a:spcPts val="500"/>
              </a:spcAft>
              <a:defRPr sz="1200" b="0">
                <a:solidFill>
                  <a:srgbClr val="C8CDD7"/>
                </a:solidFill>
              </a:defRPr>
            </a:pPr>
            <a:r>
              <a:t>Force confirmation within 48 hours. Flag unconfirmed for follow-up.</a:t>
            </a:r>
          </a:p>
        </p:txBody>
      </p:sp>
      <p:pic>
        <p:nvPicPr>
          <p:cNvPr id="9" name="Picture 8" descr="chart17_missing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029200" cy="2286000"/>
          </a:xfrm>
          <a:prstGeom prst="rect">
            <a:avLst/>
          </a:prstGeom>
        </p:spPr>
      </p:pic>
      <p:pic>
        <p:nvPicPr>
          <p:cNvPr id="10" name="Picture 9" descr="chart18_refund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749039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Web Direct Outperforms All Channels; Travel Agent Model Requires Structural Reform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728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DD7"/>
                </a:solidFill>
              </a:defRPr>
            </a:pPr>
            <a:r>
              <a:t>Channel economics vary by 60% in cancellation rate and 32% in booking value—this is not a marginal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C9B"/>
                </a:solidFill>
              </a:defRPr>
            </a:pPr>
            <a:r>
              <a:t>Source: Hotel_bookings_final.csv | Channel-level 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474720" cy="39319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8C"/>
                </a:solidFill>
              </a:defRPr>
            </a:pPr>
            <a:r>
              <a:t>WEB DIRECT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320040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8C"/>
                </a:solidFill>
              </a:defRPr>
            </a:pPr>
            <a:r>
              <a:t>17.6%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cancel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$28,191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avg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C9B"/>
                </a:solidFill>
              </a:defRPr>
            </a:pPr>
            <a:r>
              <a:t>50.0%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of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DD7"/>
                </a:solidFill>
              </a:defRPr>
            </a:pPr>
            <a:r>
              <a:t>Self-selecting users who research before booking.</a:t>
            </a:r>
            <a:br/>
            <a:r>
              <a:t>Highest commitment, highest value.</a:t>
            </a:r>
            <a:br/>
            <a:r>
              <a:t>Lowest cancellation by 10pp vs Travel Agent.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19" y="1280160"/>
            <a:ext cx="3474720" cy="39319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CDD7"/>
                </a:solidFill>
              </a:defRPr>
            </a:pPr>
            <a:r>
              <a:t>MOBILE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9" y="1691640"/>
            <a:ext cx="3200400" cy="32004"/>
          </a:xfrm>
          <a:prstGeom prst="rect">
            <a:avLst/>
          </a:prstGeom>
          <a:solidFill>
            <a:srgbClr val="C8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1783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CDD7"/>
                </a:solidFill>
              </a:defRPr>
            </a:pPr>
            <a:r>
              <a:t>21.6%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39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cancel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$21,351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39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avg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C9B"/>
                </a:solidFill>
              </a:defRPr>
            </a:pPr>
            <a:r>
              <a:t>40.0%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39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of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3108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DD7"/>
                </a:solidFill>
              </a:defRPr>
            </a:pPr>
            <a:r>
              <a:t>Impulse-driven bookings on smaller screens.</a:t>
            </a:r>
            <a:br/>
            <a:r>
              <a:t>24% lower value than Web.</a:t>
            </a:r>
            <a:br/>
            <a:r>
              <a:t>Not broken—under-monetized. Needs upsell flow.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9" y="1280160"/>
            <a:ext cx="3474720" cy="39319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56"/>
                </a:solidFill>
              </a:defRPr>
            </a:pPr>
            <a:r>
              <a:t>TRAVEL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1691640"/>
            <a:ext cx="3200400" cy="32004"/>
          </a:xfrm>
          <a:prstGeom prst="rect">
            <a:avLst/>
          </a:prstGeom>
          <a:solidFill>
            <a:srgbClr val="E6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1783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7E56"/>
                </a:solidFill>
              </a:defRPr>
            </a:pPr>
            <a:r>
              <a:t>27.9%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9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cancel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$24,454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79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avg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C9B"/>
                </a:solidFill>
              </a:defRPr>
            </a:pPr>
            <a:r>
              <a:t>10.0%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79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8C9B"/>
                </a:solidFill>
              </a:defRPr>
            </a:pPr>
            <a:r>
              <a:t>of volume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108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DD7"/>
                </a:solidFill>
              </a:defRPr>
            </a:pPr>
            <a:r>
              <a:t>Speculative bulk pre-bookings with zero deposit.</a:t>
            </a:r>
            <a:br/>
            <a:r>
              <a:t>No financial consequence for cancelling.</a:t>
            </a:r>
            <a:br/>
            <a:r>
              <a:t>Requires deposit enforcement immediately.</a:t>
            </a:r>
          </a:p>
        </p:txBody>
      </p:sp>
      <p:pic>
        <p:nvPicPr>
          <p:cNvPr id="36" name="Picture 35" descr="chart06_volume_by_channel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94960"/>
            <a:ext cx="5303520" cy="1188720"/>
          </a:xfrm>
          <a:prstGeom prst="rect">
            <a:avLst/>
          </a:prstGeom>
        </p:spPr>
      </p:pic>
      <p:pic>
        <p:nvPicPr>
          <p:cNvPr id="37" name="Picture 36" descr="chart07_value_boxplot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394960"/>
            <a:ext cx="53035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Standard Rooms Act as Placeholders; Summer Months Amplify Speculative Booking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728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DD7"/>
                </a:solidFill>
              </a:defRPr>
            </a:pPr>
            <a:r>
              <a:t>Room type selection signals commitment level. Seasonality amplifies the underlying structural issues.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C9B"/>
                </a:solidFill>
              </a:defRPr>
            </a:pPr>
            <a:r>
              <a:t>Source: Hotel_bookings_final.csv | Room-type and monthly cohort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303520" cy="2286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8C"/>
                </a:solidFill>
              </a:defRPr>
            </a:pPr>
            <a:r>
              <a:t>ROOM TYPE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E67E56"/>
                </a:solidFill>
              </a:defRPr>
            </a:pPr>
            <a:r>
              <a:t>Standard: 55.2% of bookings | 23.3% cancel rate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Cheapest option, lowest commitment. Used as a “placeholder” booking.</a:t>
            </a:r>
          </a:p>
          <a:p>
            <a:pPr>
              <a:spcAft>
                <a:spcPts val="500"/>
              </a:spcAft>
              <a:defRPr sz="1200" b="1">
                <a:solidFill>
                  <a:srgbClr val="00B48C"/>
                </a:solidFill>
              </a:defRPr>
            </a:pPr>
            <a:r>
              <a:t>Deluxe: 34.9% of bookings | 16.0% cancel rate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Similar avg price to Standard. People who choose Deluxe are committed.</a:t>
            </a:r>
          </a:p>
          <a:p>
            <a:pPr>
              <a:spcAft>
                <a:spcPts val="500"/>
              </a:spcAft>
              <a:defRPr sz="1200" b="1">
                <a:solidFill>
                  <a:srgbClr val="C8CDD7"/>
                </a:solidFill>
              </a:defRPr>
            </a:pPr>
            <a:r>
              <a:t>Suite: 9.9% of bookings | 18.0% cancel rate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Niche premium segment. Stable and predictable.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8C"/>
                </a:solidFill>
              </a:defRPr>
            </a:pPr>
            <a:r>
              <a:t>SEASONAL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E67E56"/>
                </a:solidFill>
              </a:defRPr>
            </a:pPr>
            <a:r>
              <a:t>Jul-Aug: 28.8–30.3% cancellation (1.5x average)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Peak demand enables speculative multi-hotel booking.</a:t>
            </a:r>
          </a:p>
          <a:p>
            <a:pPr>
              <a:spcAft>
                <a:spcPts val="500"/>
              </a:spcAft>
              <a:defRPr sz="1200" b="1">
                <a:solidFill>
                  <a:srgbClr val="00B48C"/>
                </a:solidFill>
              </a:defRPr>
            </a:pPr>
            <a:r>
              <a:t>Nov: 15.9% — healthiest month. Strong conviction bookings.</a:t>
            </a:r>
          </a:p>
          <a:p>
            <a:pPr>
              <a:spcAft>
                <a:spcPts val="500"/>
              </a:spcAft>
              <a:defRPr sz="1200" b="0">
                <a:solidFill>
                  <a:srgbClr val="C8CDD7"/>
                </a:solidFill>
              </a:defRPr>
            </a:pPr>
            <a:r>
              <a:t>Dec-Jan: 23.7–25.8% — holiday uncertainty and corporate cycles.</a:t>
            </a:r>
          </a:p>
          <a:p>
            <a:pPr>
              <a:spcAft>
                <a:spcPts val="500"/>
              </a:spcAft>
              <a:defRPr sz="1200" b="1">
                <a:solidFill>
                  <a:srgbClr val="DAB96B"/>
                </a:solidFill>
              </a:defRPr>
            </a:pPr>
            <a:r>
              <a:t>YoY Growth: Avg booking value up 23% ($22.5K → $27.8K)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Platform is moving upmarket. Pricing power is increasing.</a:t>
            </a:r>
          </a:p>
        </p:txBody>
      </p:sp>
      <p:pic>
        <p:nvPicPr>
          <p:cNvPr id="12" name="Picture 11" descr="chart09_cancel_by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39"/>
            <a:ext cx="3657600" cy="2743200"/>
          </a:xfrm>
          <a:prstGeom prst="rect">
            <a:avLst/>
          </a:prstGeom>
        </p:spPr>
      </p:pic>
      <p:pic>
        <p:nvPicPr>
          <p:cNvPr id="13" name="Picture 12" descr="chart12_margin_vio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749039"/>
            <a:ext cx="3657600" cy="2743200"/>
          </a:xfrm>
          <a:prstGeom prst="rect">
            <a:avLst/>
          </a:prstGeom>
        </p:spPr>
      </p:pic>
      <p:pic>
        <p:nvPicPr>
          <p:cNvPr id="14" name="Picture 13" descr="chart22_heatmap_can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749039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Five Targeted Interventions Can Reduce Cancellations by 5pp and Recover $37M Annually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728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DD7"/>
                </a:solidFill>
              </a:defRPr>
            </a:pPr>
            <a:r>
              <a:t>Each intervention addresses a specific, measurable root cause. Ordered by estimated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C9B"/>
                </a:solidFill>
              </a:defRPr>
            </a:pPr>
            <a:r>
              <a:t>Source: Analysis team estimates based on cohort analysis of 30,000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881360" cy="868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8C"/>
                </a:solidFill>
              </a:defRPr>
            </a:pPr>
            <a: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53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AUTO-ASSIGN CHECK-IN 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Eliminate the #1 cancellation predictor.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5331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83% of cancels lack check-in dates. Auto-assign at booking, force 48hr confirmation.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37160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1389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AB96B"/>
                </a:solidFill>
              </a:defRPr>
            </a:pPr>
            <a:r>
              <a:t>~$20M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17190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C9B"/>
                </a:solidFill>
              </a:defRPr>
            </a:pPr>
            <a:r>
              <a:t>est. annual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86000"/>
            <a:ext cx="10881360" cy="868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8C"/>
                </a:solidFill>
              </a:defRPr>
            </a:pPr>
            <a: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359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TRAVEL AGENT DEPOSIT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33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Introduce financial consequence for agent cancellations.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37744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3591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Require 20–30% non-refundable deposit. Agents cancel 28% because it costs them nothing.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37744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23957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AB96B"/>
                </a:solidFill>
              </a:defRPr>
            </a:pPr>
            <a:r>
              <a:t>~$8M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724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C9B"/>
                </a:solidFill>
              </a:defRPr>
            </a:pPr>
            <a:r>
              <a:t>est. annual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291840"/>
            <a:ext cx="10881360" cy="868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3649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AB96B"/>
                </a:solidFill>
              </a:defRPr>
            </a:pPr>
            <a:r>
              <a:t>#3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NON-REFUNDABLE RATE TIERS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639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Lock commitment on Standard room bookings.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38328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36499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8–12% discount for non-refundable Standard bookings. Filters out placeholder bookers.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20" y="338328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3401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AB96B"/>
                </a:solidFill>
              </a:defRPr>
            </a:pPr>
            <a:r>
              <a:t>~$5M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730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C9B"/>
                </a:solidFill>
              </a:defRPr>
            </a:pPr>
            <a:r>
              <a:t>est. annual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297680"/>
            <a:ext cx="10881360" cy="868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370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AB96B"/>
                </a:solidFill>
              </a:defRPr>
            </a:pPr>
            <a:r>
              <a:t>#4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370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PROGRESSIVE CANCELLATION FEES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645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Discourage late cancellations across all segments.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38912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37083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Free &lt;24hrs → 10% (7d) → 25% (3d) → 50% (same-day). Industry-standard framework.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20" y="438912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AB96B"/>
                </a:solidFill>
              </a:defRPr>
            </a:pPr>
            <a:r>
              <a:t>~$3M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4736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C9B"/>
                </a:solidFill>
              </a:defRPr>
            </a:pPr>
            <a:r>
              <a:t>est. annual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303520"/>
            <a:ext cx="10881360" cy="868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76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AB96B"/>
                </a:solidFill>
              </a:defRPr>
            </a:pPr>
            <a:r>
              <a:t>#5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376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STANDARD → DELUXE UPSELL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Shift volume toward lower-cancellation room type.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39496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537667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$50 upgrade credit. Deluxe cancels at 16% vs Standard’s 23%. 7.3pp improvement per conversion.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32720" y="5394960"/>
            <a:ext cx="18288" cy="685800"/>
          </a:xfrm>
          <a:prstGeom prst="rect">
            <a:avLst/>
          </a:prstGeom>
          <a:solidFill>
            <a:srgbClr val="37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24160" y="5413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AB96B"/>
                </a:solidFill>
              </a:defRPr>
            </a:pPr>
            <a:r>
              <a:t>~$1M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5742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C9B"/>
                </a:solidFill>
              </a:defRPr>
            </a:pPr>
            <a:r>
              <a:t>est. annual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6309360"/>
            <a:ext cx="10881360" cy="411480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6336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213D"/>
                </a:solidFill>
              </a:defRPr>
            </a:pPr>
            <a:r>
              <a:t>TOTAL PROJECTED ANNUAL RECOVERY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6291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213D"/>
                </a:solidFill>
              </a:defRPr>
            </a:pPr>
            <a:r>
              <a:t>~$37M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Optimizing Pricing Windows and Channel Mix Can Amplify Revenue Beyond Cancellation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728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DD7"/>
                </a:solidFill>
              </a:defRPr>
            </a:pPr>
            <a:r>
              <a:t>Pricing power exists in peak months; promotional ROI is maximized in low-cancellation windows.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C9B"/>
                </a:solidFill>
              </a:defRPr>
            </a:pPr>
            <a:r>
              <a:t>Source: Monthly cohort analysis, coupon usage cross-tabulation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383280" cy="4663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8C"/>
                </a:solidFill>
              </a:defRPr>
            </a:pPr>
            <a:r>
              <a:t>DYNAMIC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Summer (Jul-Aug)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Raise rates 10–15%.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High demand absorbs price increases.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Pair with strict cancel terms.</a:t>
            </a:r>
          </a:p>
          <a:p>
            <a:pPr>
              <a:spcAft>
                <a:spcPts val="500"/>
              </a:spcAft>
              <a:defRPr sz="400" b="0">
                <a:solidFill>
                  <a:srgbClr val="C8CDD7"/>
                </a:solidFill>
              </a:defRPr>
            </a:pP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Off-Peak (Nov, Feb-Apr)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Invest promotional budget here.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Lowest cancel rates = best ROI.</a:t>
            </a:r>
          </a:p>
          <a:p>
            <a:pPr>
              <a:spcAft>
                <a:spcPts val="500"/>
              </a:spcAft>
              <a:defRPr sz="1100" b="0">
                <a:solidFill>
                  <a:srgbClr val="00B48C"/>
                </a:solidFill>
              </a:defRPr>
            </a:pPr>
            <a:r>
              <a:t>Nov: 15.9% cancel, $25.7K avg.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383280" cy="4663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8C"/>
                </a:solidFill>
              </a:defRPr>
            </a:pPr>
            <a:r>
              <a:t>PROMOTIONS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Coupons are safe to use.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Coupon users cancel at the same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rate as non-users. No adverse effect.</a:t>
            </a:r>
          </a:p>
          <a:p>
            <a:pPr>
              <a:spcAft>
                <a:spcPts val="500"/>
              </a:spcAft>
              <a:defRPr sz="400" b="0">
                <a:solidFill>
                  <a:srgbClr val="C8CDD7"/>
                </a:solidFill>
              </a:defRPr>
            </a:pP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Target Standard-room bookers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with Deluxe upgrade vouchers.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Shifts volume to lower-cancel tier.</a:t>
            </a:r>
          </a:p>
          <a:p>
            <a:pPr>
              <a:spcAft>
                <a:spcPts val="500"/>
              </a:spcAft>
              <a:defRPr sz="400" b="0">
                <a:solidFill>
                  <a:srgbClr val="C8CDD7"/>
                </a:solidFill>
              </a:defRPr>
            </a:pP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Re-booking incentives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5% off alternative dates instead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of full refund on cancellations.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749039" cy="46634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371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8C"/>
                </a:solidFill>
              </a:defRPr>
            </a:pPr>
            <a:r>
              <a:t>CHANNEL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7373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Double down on Web Direct.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Best unit economics across every metric.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Invest in SEO, direct booking incentives.</a:t>
            </a:r>
          </a:p>
          <a:p>
            <a:pPr>
              <a:spcAft>
                <a:spcPts val="500"/>
              </a:spcAft>
              <a:defRPr sz="400" b="0">
                <a:solidFill>
                  <a:srgbClr val="C8CDD7"/>
                </a:solidFill>
              </a:defRPr>
            </a:pP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Reform Travel Agent Terms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Mandatory deposits.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Shorter booking windows.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Performance-based commission.</a:t>
            </a:r>
          </a:p>
          <a:p>
            <a:pPr>
              <a:spcAft>
                <a:spcPts val="500"/>
              </a:spcAft>
              <a:defRPr sz="400" b="0">
                <a:solidFill>
                  <a:srgbClr val="C8CDD7"/>
                </a:solidFill>
              </a:defRPr>
            </a:pP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Mobile App: Upsell Engine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App-exclusive bundles, upgrades.</a:t>
            </a:r>
          </a:p>
          <a:p>
            <a:pPr>
              <a:spcAft>
                <a:spcPts val="500"/>
              </a:spcAft>
              <a:defRPr sz="1100" b="0">
                <a:solidFill>
                  <a:srgbClr val="C8CDD7"/>
                </a:solidFill>
              </a:defRPr>
            </a:pPr>
            <a:r>
              <a:t>Close the $7K value gap vs Web.</a:t>
            </a:r>
          </a:p>
          <a:p>
            <a:pPr>
              <a:spcAft>
                <a:spcPts val="500"/>
              </a:spcAft>
              <a:defRPr sz="1100" b="0">
                <a:solidFill>
                  <a:srgbClr val="DAB96B"/>
                </a:solidFill>
              </a:defRPr>
            </a:pPr>
            <a:r>
              <a:t>499 repeat customers avg 60 bookings.</a:t>
            </a:r>
          </a:p>
        </p:txBody>
      </p:sp>
      <p:pic>
        <p:nvPicPr>
          <p:cNvPr id="15" name="Picture 14" descr="chart13_monthly_total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26480"/>
            <a:ext cx="5303520" cy="548640"/>
          </a:xfrm>
          <a:prstGeom prst="rect">
            <a:avLst/>
          </a:prstGeom>
        </p:spPr>
      </p:pic>
      <p:pic>
        <p:nvPicPr>
          <p:cNvPr id="16" name="Picture 15" descr="chart03_avg_value_b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6126480"/>
            <a:ext cx="5120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371600" cy="32004"/>
          </a:xfrm>
          <a:prstGeom prst="rect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C8CDD7"/>
                </a:solidFill>
              </a:defRPr>
            </a:pPr>
            <a:r>
              <a:t>The cancellation problem is not a demand problem.</a:t>
            </a:r>
          </a:p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</a:defRPr>
            </a:pPr>
            <a:r>
              <a:t>It is a process gap, a channel incentive misalignment, and a pricing opportunity.</a:t>
            </a:r>
          </a:p>
          <a:p>
            <a:pPr>
              <a:spcAft>
                <a:spcPts val="500"/>
              </a:spcAft>
              <a:defRPr sz="1000" b="0">
                <a:solidFill>
                  <a:srgbClr val="C8CDD7"/>
                </a:solidFill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C8CDD7"/>
                </a:solidFill>
              </a:defRPr>
            </a:pPr>
            <a:r>
              <a:t>Three moves capture 80% of the value:</a:t>
            </a:r>
          </a:p>
          <a:p>
            <a:pPr>
              <a:spcAft>
                <a:spcPts val="500"/>
              </a:spcAft>
              <a:defRPr sz="1500" b="1">
                <a:solidFill>
                  <a:srgbClr val="00B48C"/>
                </a:solidFill>
              </a:defRPr>
            </a:pPr>
            <a:r>
              <a:t>•  Auto-assign check-in dates at booking  (≈$20M)</a:t>
            </a:r>
          </a:p>
          <a:p>
            <a:pPr>
              <a:spcAft>
                <a:spcPts val="500"/>
              </a:spcAft>
              <a:defRPr sz="1500" b="1">
                <a:solidFill>
                  <a:srgbClr val="00B48C"/>
                </a:solidFill>
              </a:defRPr>
            </a:pPr>
            <a:r>
              <a:t>•  Require deposits on Travel Agent bookings  (≈$8M)</a:t>
            </a:r>
          </a:p>
          <a:p>
            <a:pPr>
              <a:spcAft>
                <a:spcPts val="500"/>
              </a:spcAft>
              <a:defRPr sz="1500" b="1">
                <a:solidFill>
                  <a:srgbClr val="00B48C"/>
                </a:solidFill>
              </a:defRPr>
            </a:pPr>
            <a:r>
              <a:t>•  Non-refundable tiers for Standard rooms  (≈$5M)</a:t>
            </a:r>
          </a:p>
          <a:p>
            <a:pPr>
              <a:spcAft>
                <a:spcPts val="500"/>
              </a:spcAft>
              <a:defRPr sz="800" b="0">
                <a:solidFill>
                  <a:srgbClr val="C8CDD7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DAB96B"/>
                </a:solidFill>
              </a:defRPr>
            </a:pPr>
            <a:r>
              <a:t>Combined projected impact: ~1,500 recovered bookings  |  ~$37M recaptured  |  Per year.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8C"/>
                </a:solidFill>
              </a:defRPr>
            </a:pPr>
            <a:r>
              <a:t>IMPLEMENTATION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Week 1–2: Check-in date auto-assignment (IT change)   |   Week 3–4: Agent deposit policy rollout   |   Week 5–8: Non-refundable tier launch   |   Week 8–12: Progressive fee structure + Deluxe upsell campaign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C9B"/>
                </a:solidFill>
              </a:defRPr>
            </a:pPr>
            <a:r>
              <a:t>Hotel Bookings Portfolio Review  |  Confidential  |  Prepared for Senior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